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/>
          <p:cNvGrpSpPr/>
          <p:nvPr/>
        </p:nvGrpSpPr>
        <p:grpSpPr>
          <a:xfrm>
            <a:off x="-406400" y="496570"/>
            <a:ext cx="5811520" cy="3850005"/>
            <a:chOff x="-794" y="0"/>
            <a:chExt cx="9152" cy="6063"/>
          </a:xfrm>
        </p:grpSpPr>
        <p:sp>
          <p:nvSpPr>
            <p:cNvPr id="4" name="矩形 3"/>
            <p:cNvSpPr/>
            <p:nvPr/>
          </p:nvSpPr>
          <p:spPr>
            <a:xfrm>
              <a:off x="3046" y="2826"/>
              <a:ext cx="1894" cy="8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光伏设备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-645" y="422"/>
              <a:ext cx="2153" cy="10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设备编号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1508" y="0"/>
              <a:ext cx="2153" cy="10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安装区域</a:t>
              </a:r>
              <a:r>
                <a:rPr lang="zh-CN" altLang="en-US" sz="1400">
                  <a:solidFill>
                    <a:schemeClr val="tx1"/>
                  </a:solidFill>
                </a:rPr>
                <a:t>编号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-794" y="1624"/>
              <a:ext cx="2153" cy="10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装机</a:t>
              </a:r>
              <a:r>
                <a:rPr lang="zh-CN" altLang="en-US" sz="1400">
                  <a:solidFill>
                    <a:schemeClr val="tx1"/>
                  </a:solidFill>
                </a:rPr>
                <a:t>容量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3857" y="48"/>
              <a:ext cx="2153" cy="10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设备</a:t>
              </a:r>
              <a:r>
                <a:rPr lang="zh-CN" altLang="en-US" sz="1400">
                  <a:solidFill>
                    <a:schemeClr val="tx1"/>
                  </a:solidFill>
                </a:rPr>
                <a:t>类型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-794" y="2826"/>
              <a:ext cx="2153" cy="10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投运</a:t>
              </a:r>
              <a:r>
                <a:rPr lang="zh-CN" altLang="en-US" sz="1400">
                  <a:solidFill>
                    <a:schemeClr val="tx1"/>
                  </a:solidFill>
                </a:rPr>
                <a:t>时间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-645" y="3975"/>
              <a:ext cx="2153" cy="10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校准</a:t>
              </a:r>
              <a:r>
                <a:rPr lang="zh-CN" altLang="en-US" sz="1400">
                  <a:solidFill>
                    <a:schemeClr val="tx1"/>
                  </a:solidFill>
                </a:rPr>
                <a:t>周期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-467" y="5023"/>
              <a:ext cx="2153" cy="10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运行</a:t>
              </a:r>
              <a:r>
                <a:rPr lang="zh-CN" altLang="en-US" sz="1400">
                  <a:solidFill>
                    <a:schemeClr val="tx1"/>
                  </a:solidFill>
                </a:rPr>
                <a:t>状态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6206" y="48"/>
              <a:ext cx="2153" cy="10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通信</a:t>
              </a:r>
              <a:r>
                <a:rPr lang="zh-CN" altLang="en-US" sz="1400">
                  <a:solidFill>
                    <a:schemeClr val="tx1"/>
                  </a:solidFill>
                </a:rPr>
                <a:t>协议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cxnSp>
          <p:nvCxnSpPr>
            <p:cNvPr id="19" name="直接连接符 18"/>
            <p:cNvCxnSpPr>
              <a:stCxn id="12" idx="4"/>
            </p:cNvCxnSpPr>
            <p:nvPr/>
          </p:nvCxnSpPr>
          <p:spPr>
            <a:xfrm>
              <a:off x="2585" y="1041"/>
              <a:ext cx="949" cy="17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15" idx="6"/>
              <a:endCxn id="4" idx="1"/>
            </p:cNvCxnSpPr>
            <p:nvPr/>
          </p:nvCxnSpPr>
          <p:spPr>
            <a:xfrm flipV="1">
              <a:off x="1359" y="3270"/>
              <a:ext cx="1687" cy="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>
              <a:stCxn id="13" idx="6"/>
            </p:cNvCxnSpPr>
            <p:nvPr/>
          </p:nvCxnSpPr>
          <p:spPr>
            <a:xfrm>
              <a:off x="1359" y="2145"/>
              <a:ext cx="1693" cy="84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>
              <a:stCxn id="7" idx="5"/>
            </p:cNvCxnSpPr>
            <p:nvPr/>
          </p:nvCxnSpPr>
          <p:spPr>
            <a:xfrm>
              <a:off x="1193" y="1311"/>
              <a:ext cx="1881" cy="15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>
              <a:stCxn id="18" idx="4"/>
            </p:cNvCxnSpPr>
            <p:nvPr/>
          </p:nvCxnSpPr>
          <p:spPr>
            <a:xfrm flipH="1">
              <a:off x="4411" y="1089"/>
              <a:ext cx="2872" cy="17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>
              <a:stCxn id="14" idx="4"/>
              <a:endCxn id="4" idx="0"/>
            </p:cNvCxnSpPr>
            <p:nvPr/>
          </p:nvCxnSpPr>
          <p:spPr>
            <a:xfrm flipH="1">
              <a:off x="3993" y="1089"/>
              <a:ext cx="941" cy="17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>
              <a:stCxn id="16" idx="6"/>
            </p:cNvCxnSpPr>
            <p:nvPr/>
          </p:nvCxnSpPr>
          <p:spPr>
            <a:xfrm flipV="1">
              <a:off x="1508" y="3608"/>
              <a:ext cx="1522" cy="8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>
              <a:stCxn id="17" idx="6"/>
            </p:cNvCxnSpPr>
            <p:nvPr/>
          </p:nvCxnSpPr>
          <p:spPr>
            <a:xfrm flipV="1">
              <a:off x="1686" y="3670"/>
              <a:ext cx="1760" cy="18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65" name="组合 64"/>
          <p:cNvGrpSpPr/>
          <p:nvPr/>
        </p:nvGrpSpPr>
        <p:grpSpPr>
          <a:xfrm>
            <a:off x="-830580" y="-4058285"/>
            <a:ext cx="6252210" cy="4512310"/>
            <a:chOff x="9353" y="48"/>
            <a:chExt cx="9846" cy="7106"/>
          </a:xfrm>
        </p:grpSpPr>
        <p:sp>
          <p:nvSpPr>
            <p:cNvPr id="6" name="矩形 5"/>
            <p:cNvSpPr/>
            <p:nvPr/>
          </p:nvSpPr>
          <p:spPr>
            <a:xfrm>
              <a:off x="13612" y="3022"/>
              <a:ext cx="1894" cy="8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光伏发电</a:t>
              </a:r>
              <a:r>
                <a:rPr lang="zh-CN" altLang="en-US" sz="1400">
                  <a:solidFill>
                    <a:schemeClr val="tx1"/>
                  </a:solidFill>
                </a:rPr>
                <a:t>数据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9353" y="1555"/>
              <a:ext cx="2153" cy="10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数据</a:t>
              </a:r>
              <a:r>
                <a:rPr lang="zh-CN" altLang="en-US" sz="1400">
                  <a:solidFill>
                    <a:schemeClr val="tx1"/>
                  </a:solidFill>
                </a:rPr>
                <a:t>编号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10655" y="698"/>
              <a:ext cx="2153" cy="10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设备</a:t>
              </a:r>
              <a:r>
                <a:rPr lang="zh-CN" altLang="en-US" sz="1400">
                  <a:solidFill>
                    <a:schemeClr val="tx1"/>
                  </a:solidFill>
                </a:rPr>
                <a:t>编号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16279" y="6114"/>
              <a:ext cx="2153" cy="10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组串</a:t>
              </a:r>
              <a:r>
                <a:rPr lang="zh-CN" altLang="en-US" sz="1400">
                  <a:solidFill>
                    <a:schemeClr val="tx1"/>
                  </a:solidFill>
                </a:rPr>
                <a:t>电流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12392" y="48"/>
              <a:ext cx="2154" cy="10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并网点</a:t>
              </a:r>
              <a:r>
                <a:rPr lang="zh-CN" altLang="en-US" sz="1400">
                  <a:solidFill>
                    <a:schemeClr val="tx1"/>
                  </a:solidFill>
                </a:rPr>
                <a:t>编号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14704" y="54"/>
              <a:ext cx="2153" cy="10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采集</a:t>
              </a:r>
              <a:r>
                <a:rPr lang="zh-CN" altLang="en-US" sz="1400">
                  <a:solidFill>
                    <a:schemeClr val="tx1"/>
                  </a:solidFill>
                </a:rPr>
                <a:t>时间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16744" y="477"/>
              <a:ext cx="2153" cy="10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发电量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16943" y="1555"/>
              <a:ext cx="2153" cy="10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上网</a:t>
              </a:r>
              <a:r>
                <a:rPr lang="zh-CN" altLang="en-US" sz="1400">
                  <a:solidFill>
                    <a:schemeClr val="tx1"/>
                  </a:solidFill>
                </a:rPr>
                <a:t>电量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17047" y="2750"/>
              <a:ext cx="2153" cy="10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自用</a:t>
              </a:r>
              <a:r>
                <a:rPr lang="zh-CN" altLang="en-US" sz="1400">
                  <a:solidFill>
                    <a:schemeClr val="tx1"/>
                  </a:solidFill>
                </a:rPr>
                <a:t>电量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16943" y="3932"/>
              <a:ext cx="2153" cy="10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逆变器</a:t>
              </a:r>
              <a:r>
                <a:rPr lang="zh-CN" altLang="en-US" sz="1400">
                  <a:solidFill>
                    <a:schemeClr val="tx1"/>
                  </a:solidFill>
                </a:rPr>
                <a:t>效率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16581" y="5023"/>
              <a:ext cx="2153" cy="10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汇流箱组串</a:t>
              </a:r>
              <a:r>
                <a:rPr lang="zh-CN" altLang="en-US" sz="1400">
                  <a:solidFill>
                    <a:schemeClr val="tx1"/>
                  </a:solidFill>
                </a:rPr>
                <a:t>电压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cxnSp>
          <p:nvCxnSpPr>
            <p:cNvPr id="39" name="直接连接符 38"/>
            <p:cNvCxnSpPr>
              <a:stCxn id="27" idx="5"/>
              <a:endCxn id="6" idx="1"/>
            </p:cNvCxnSpPr>
            <p:nvPr/>
          </p:nvCxnSpPr>
          <p:spPr>
            <a:xfrm>
              <a:off x="11191" y="2444"/>
              <a:ext cx="2421" cy="10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>
              <a:stCxn id="31" idx="4"/>
            </p:cNvCxnSpPr>
            <p:nvPr/>
          </p:nvCxnSpPr>
          <p:spPr>
            <a:xfrm>
              <a:off x="13469" y="1089"/>
              <a:ext cx="619" cy="19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>
              <a:stCxn id="32" idx="3"/>
            </p:cNvCxnSpPr>
            <p:nvPr/>
          </p:nvCxnSpPr>
          <p:spPr>
            <a:xfrm flipH="1">
              <a:off x="14285" y="943"/>
              <a:ext cx="734" cy="20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>
              <a:stCxn id="33" idx="2"/>
              <a:endCxn id="6" idx="0"/>
            </p:cNvCxnSpPr>
            <p:nvPr/>
          </p:nvCxnSpPr>
          <p:spPr>
            <a:xfrm flipH="1">
              <a:off x="14559" y="998"/>
              <a:ext cx="2185" cy="20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>
              <a:stCxn id="34" idx="2"/>
            </p:cNvCxnSpPr>
            <p:nvPr/>
          </p:nvCxnSpPr>
          <p:spPr>
            <a:xfrm flipH="1">
              <a:off x="15293" y="2076"/>
              <a:ext cx="1650" cy="9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>
              <a:stCxn id="35" idx="2"/>
              <a:endCxn id="6" idx="3"/>
            </p:cNvCxnSpPr>
            <p:nvPr/>
          </p:nvCxnSpPr>
          <p:spPr>
            <a:xfrm flipH="1">
              <a:off x="15506" y="3271"/>
              <a:ext cx="1541" cy="1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>
              <a:endCxn id="30" idx="1"/>
            </p:cNvCxnSpPr>
            <p:nvPr/>
          </p:nvCxnSpPr>
          <p:spPr>
            <a:xfrm>
              <a:off x="15249" y="3919"/>
              <a:ext cx="1345" cy="23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>
              <a:stCxn id="36" idx="1"/>
            </p:cNvCxnSpPr>
            <p:nvPr/>
          </p:nvCxnSpPr>
          <p:spPr>
            <a:xfrm flipH="1" flipV="1">
              <a:off x="15491" y="3766"/>
              <a:ext cx="1767" cy="3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>
              <a:endCxn id="37" idx="1"/>
            </p:cNvCxnSpPr>
            <p:nvPr/>
          </p:nvCxnSpPr>
          <p:spPr>
            <a:xfrm>
              <a:off x="15425" y="3963"/>
              <a:ext cx="1471" cy="12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>
              <a:stCxn id="28" idx="5"/>
            </p:cNvCxnSpPr>
            <p:nvPr/>
          </p:nvCxnSpPr>
          <p:spPr>
            <a:xfrm>
              <a:off x="12493" y="1587"/>
              <a:ext cx="1113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7019925" y="3458845"/>
            <a:ext cx="5265420" cy="3006725"/>
            <a:chOff x="3541" y="6064"/>
            <a:chExt cx="8292" cy="4735"/>
          </a:xfrm>
        </p:grpSpPr>
        <p:sp>
          <p:nvSpPr>
            <p:cNvPr id="5" name="矩形 4"/>
            <p:cNvSpPr/>
            <p:nvPr/>
          </p:nvSpPr>
          <p:spPr>
            <a:xfrm>
              <a:off x="6894" y="8202"/>
              <a:ext cx="1894" cy="8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光伏预测</a:t>
              </a:r>
              <a:r>
                <a:rPr lang="zh-CN" altLang="en-US" sz="1400">
                  <a:solidFill>
                    <a:schemeClr val="tx1"/>
                  </a:solidFill>
                </a:rPr>
                <a:t>数据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>
              <a:off x="3541" y="7322"/>
              <a:ext cx="2153" cy="10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并</a:t>
              </a:r>
              <a:r>
                <a:rPr lang="zh-CN" altLang="en-US" sz="1400">
                  <a:solidFill>
                    <a:schemeClr val="tx1"/>
                  </a:solidFill>
                </a:rPr>
                <a:t>网点编号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9681" y="8522"/>
              <a:ext cx="2153" cy="10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偏差</a:t>
              </a:r>
              <a:r>
                <a:rPr lang="zh-CN" altLang="en-US" sz="1400">
                  <a:solidFill>
                    <a:schemeClr val="tx1"/>
                  </a:solidFill>
                </a:rPr>
                <a:t>率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3820" y="6064"/>
              <a:ext cx="2153" cy="10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预测编号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3541" y="8522"/>
              <a:ext cx="2153" cy="10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预测</a:t>
              </a:r>
              <a:r>
                <a:rPr lang="zh-CN" altLang="en-US" sz="1400">
                  <a:solidFill>
                    <a:schemeClr val="tx1"/>
                  </a:solidFill>
                </a:rPr>
                <a:t>日期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8502" y="9759"/>
              <a:ext cx="2153" cy="10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实际</a:t>
              </a:r>
              <a:r>
                <a:rPr lang="zh-CN" altLang="en-US" sz="1400">
                  <a:solidFill>
                    <a:schemeClr val="tx1"/>
                  </a:solidFill>
                </a:rPr>
                <a:t>发电量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54" name="椭圆 53"/>
            <p:cNvSpPr/>
            <p:nvPr/>
          </p:nvSpPr>
          <p:spPr>
            <a:xfrm>
              <a:off x="5973" y="9759"/>
              <a:ext cx="2153" cy="10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预测</a:t>
              </a:r>
              <a:r>
                <a:rPr lang="zh-CN" altLang="en-US" sz="1400">
                  <a:solidFill>
                    <a:schemeClr val="tx1"/>
                  </a:solidFill>
                </a:rPr>
                <a:t>发电量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55" name="椭圆 54"/>
            <p:cNvSpPr/>
            <p:nvPr/>
          </p:nvSpPr>
          <p:spPr>
            <a:xfrm>
              <a:off x="3688" y="9759"/>
              <a:ext cx="2153" cy="10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预测</a:t>
              </a:r>
              <a:r>
                <a:rPr lang="zh-CN" altLang="en-US" sz="1400">
                  <a:solidFill>
                    <a:schemeClr val="tx1"/>
                  </a:solidFill>
                </a:rPr>
                <a:t>时段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56" name="椭圆 55"/>
            <p:cNvSpPr/>
            <p:nvPr/>
          </p:nvSpPr>
          <p:spPr>
            <a:xfrm>
              <a:off x="9681" y="7322"/>
              <a:ext cx="2153" cy="104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预测模型</a:t>
              </a:r>
              <a:r>
                <a:rPr lang="zh-CN" altLang="en-US" sz="1400">
                  <a:solidFill>
                    <a:schemeClr val="tx1"/>
                  </a:solidFill>
                </a:rPr>
                <a:t>版本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cxnSp>
          <p:nvCxnSpPr>
            <p:cNvPr id="57" name="直接连接符 56"/>
            <p:cNvCxnSpPr>
              <a:stCxn id="51" idx="6"/>
            </p:cNvCxnSpPr>
            <p:nvPr/>
          </p:nvCxnSpPr>
          <p:spPr>
            <a:xfrm>
              <a:off x="5973" y="6585"/>
              <a:ext cx="1079" cy="157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>
              <a:stCxn id="53" idx="1"/>
            </p:cNvCxnSpPr>
            <p:nvPr/>
          </p:nvCxnSpPr>
          <p:spPr>
            <a:xfrm flipH="1" flipV="1">
              <a:off x="8389" y="9053"/>
              <a:ext cx="428" cy="85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>
              <a:stCxn id="54" idx="0"/>
            </p:cNvCxnSpPr>
            <p:nvPr/>
          </p:nvCxnSpPr>
          <p:spPr>
            <a:xfrm flipV="1">
              <a:off x="7050" y="9097"/>
              <a:ext cx="353" cy="6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>
              <a:stCxn id="52" idx="6"/>
            </p:cNvCxnSpPr>
            <p:nvPr/>
          </p:nvCxnSpPr>
          <p:spPr>
            <a:xfrm flipV="1">
              <a:off x="5694" y="8812"/>
              <a:ext cx="1183" cy="23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>
              <a:stCxn id="55" idx="7"/>
            </p:cNvCxnSpPr>
            <p:nvPr/>
          </p:nvCxnSpPr>
          <p:spPr>
            <a:xfrm flipV="1">
              <a:off x="5526" y="9097"/>
              <a:ext cx="1504" cy="8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>
              <a:stCxn id="50" idx="2"/>
              <a:endCxn id="5" idx="3"/>
            </p:cNvCxnSpPr>
            <p:nvPr/>
          </p:nvCxnSpPr>
          <p:spPr>
            <a:xfrm flipH="1" flipV="1">
              <a:off x="8788" y="8646"/>
              <a:ext cx="893" cy="39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>
              <a:stCxn id="56" idx="2"/>
              <a:endCxn id="5" idx="3"/>
            </p:cNvCxnSpPr>
            <p:nvPr/>
          </p:nvCxnSpPr>
          <p:spPr>
            <a:xfrm flipH="1">
              <a:off x="8788" y="7843"/>
              <a:ext cx="893" cy="8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>
              <a:stCxn id="49" idx="6"/>
              <a:endCxn id="5" idx="1"/>
            </p:cNvCxnSpPr>
            <p:nvPr/>
          </p:nvCxnSpPr>
          <p:spPr>
            <a:xfrm>
              <a:off x="5694" y="7843"/>
              <a:ext cx="1200" cy="8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9189085" y="2272665"/>
            <a:ext cx="1202690" cy="5632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并</a:t>
            </a:r>
            <a:r>
              <a:rPr lang="zh-CN" altLang="en-US" sz="1400">
                <a:solidFill>
                  <a:schemeClr val="tx1"/>
                </a:solidFill>
              </a:rPr>
              <a:t>网点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021840" y="5032375"/>
            <a:ext cx="1202690" cy="5632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屋顶</a:t>
            </a:r>
            <a:r>
              <a:rPr lang="zh-CN" altLang="en-US" sz="1400">
                <a:solidFill>
                  <a:schemeClr val="tx1"/>
                </a:solidFill>
              </a:rPr>
              <a:t>区域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流程图: 决策 9"/>
          <p:cNvSpPr/>
          <p:nvPr/>
        </p:nvSpPr>
        <p:spPr>
          <a:xfrm>
            <a:off x="2015490" y="3681730"/>
            <a:ext cx="1202690" cy="661035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安装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1" name="流程图: 决策 10"/>
          <p:cNvSpPr/>
          <p:nvPr/>
        </p:nvSpPr>
        <p:spPr>
          <a:xfrm>
            <a:off x="1864360" y="-867410"/>
            <a:ext cx="1202690" cy="661035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产生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9" name="流程图: 决策 28"/>
          <p:cNvSpPr/>
          <p:nvPr/>
        </p:nvSpPr>
        <p:spPr>
          <a:xfrm>
            <a:off x="5591810" y="2267585"/>
            <a:ext cx="1202690" cy="661035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接入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66" name="流程图: 决策 65"/>
          <p:cNvSpPr/>
          <p:nvPr/>
        </p:nvSpPr>
        <p:spPr>
          <a:xfrm>
            <a:off x="9109710" y="3351530"/>
            <a:ext cx="1202690" cy="661035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拥有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67" name="直接连接符 66"/>
          <p:cNvCxnSpPr>
            <a:stCxn id="6" idx="2"/>
            <a:endCxn id="11" idx="0"/>
          </p:cNvCxnSpPr>
          <p:nvPr/>
        </p:nvCxnSpPr>
        <p:spPr>
          <a:xfrm flipH="1">
            <a:off x="2465705" y="-1606550"/>
            <a:ext cx="9525" cy="7391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连接符 67"/>
          <p:cNvCxnSpPr>
            <a:stCxn id="11" idx="2"/>
          </p:cNvCxnSpPr>
          <p:nvPr/>
        </p:nvCxnSpPr>
        <p:spPr>
          <a:xfrm>
            <a:off x="2465705" y="-206375"/>
            <a:ext cx="0" cy="24123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stCxn id="4" idx="2"/>
            <a:endCxn id="10" idx="0"/>
          </p:cNvCxnSpPr>
          <p:nvPr/>
        </p:nvCxnSpPr>
        <p:spPr>
          <a:xfrm flipH="1">
            <a:off x="2616835" y="2854325"/>
            <a:ext cx="16510" cy="8274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连接符 69"/>
          <p:cNvCxnSpPr>
            <a:stCxn id="10" idx="2"/>
            <a:endCxn id="8" idx="0"/>
          </p:cNvCxnSpPr>
          <p:nvPr/>
        </p:nvCxnSpPr>
        <p:spPr>
          <a:xfrm>
            <a:off x="2616835" y="4342765"/>
            <a:ext cx="6350" cy="6896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>
            <a:stCxn id="4" idx="3"/>
            <a:endCxn id="29" idx="1"/>
          </p:cNvCxnSpPr>
          <p:nvPr/>
        </p:nvCxnSpPr>
        <p:spPr>
          <a:xfrm>
            <a:off x="3234690" y="2573020"/>
            <a:ext cx="2357120" cy="25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直接连接符 71"/>
          <p:cNvCxnSpPr>
            <a:stCxn id="29" idx="3"/>
            <a:endCxn id="2" idx="1"/>
          </p:cNvCxnSpPr>
          <p:nvPr/>
        </p:nvCxnSpPr>
        <p:spPr>
          <a:xfrm flipV="1">
            <a:off x="6794500" y="2554605"/>
            <a:ext cx="2394585" cy="438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stCxn id="2" idx="2"/>
            <a:endCxn id="66" idx="0"/>
          </p:cNvCxnSpPr>
          <p:nvPr/>
        </p:nvCxnSpPr>
        <p:spPr>
          <a:xfrm flipH="1">
            <a:off x="9711055" y="2835910"/>
            <a:ext cx="79375" cy="5156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连接符 73"/>
          <p:cNvCxnSpPr>
            <a:stCxn id="66" idx="2"/>
            <a:endCxn id="5" idx="0"/>
          </p:cNvCxnSpPr>
          <p:nvPr/>
        </p:nvCxnSpPr>
        <p:spPr>
          <a:xfrm>
            <a:off x="9711055" y="4012565"/>
            <a:ext cx="39370" cy="8039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椭圆 75"/>
          <p:cNvSpPr/>
          <p:nvPr/>
        </p:nvSpPr>
        <p:spPr>
          <a:xfrm>
            <a:off x="-406400" y="5230495"/>
            <a:ext cx="1367155" cy="6610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所属厂区编号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7" name="椭圆 76"/>
          <p:cNvSpPr/>
          <p:nvPr/>
        </p:nvSpPr>
        <p:spPr>
          <a:xfrm>
            <a:off x="1400175" y="6858000"/>
            <a:ext cx="1367155" cy="6610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最大可装机容量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8" name="椭圆 77"/>
          <p:cNvSpPr/>
          <p:nvPr/>
        </p:nvSpPr>
        <p:spPr>
          <a:xfrm>
            <a:off x="3076575" y="6769100"/>
            <a:ext cx="1367155" cy="6610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已安装容量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9" name="椭圆 78"/>
          <p:cNvSpPr/>
          <p:nvPr/>
        </p:nvSpPr>
        <p:spPr>
          <a:xfrm>
            <a:off x="4372610" y="4713605"/>
            <a:ext cx="1367155" cy="6610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区域编号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80" name="椭圆 79"/>
          <p:cNvSpPr/>
          <p:nvPr/>
        </p:nvSpPr>
        <p:spPr>
          <a:xfrm>
            <a:off x="4038600" y="6196965"/>
            <a:ext cx="1367155" cy="6610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屋顶材质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81" name="椭圆 80"/>
          <p:cNvSpPr/>
          <p:nvPr/>
        </p:nvSpPr>
        <p:spPr>
          <a:xfrm>
            <a:off x="4372610" y="5535930"/>
            <a:ext cx="1367155" cy="6610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区域名称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82" name="椭圆 81"/>
          <p:cNvSpPr/>
          <p:nvPr/>
        </p:nvSpPr>
        <p:spPr>
          <a:xfrm>
            <a:off x="-3810" y="6108065"/>
            <a:ext cx="1367155" cy="6610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所属建筑编号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83" name="直接连接符 82"/>
          <p:cNvCxnSpPr>
            <a:stCxn id="76" idx="6"/>
            <a:endCxn id="8" idx="1"/>
          </p:cNvCxnSpPr>
          <p:nvPr/>
        </p:nvCxnSpPr>
        <p:spPr>
          <a:xfrm flipV="1">
            <a:off x="960755" y="5314315"/>
            <a:ext cx="1061085" cy="2470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连接符 83"/>
          <p:cNvCxnSpPr>
            <a:stCxn id="82" idx="7"/>
          </p:cNvCxnSpPr>
          <p:nvPr/>
        </p:nvCxnSpPr>
        <p:spPr>
          <a:xfrm flipV="1">
            <a:off x="1163320" y="5638165"/>
            <a:ext cx="859790" cy="5664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直接连接符 84"/>
          <p:cNvCxnSpPr>
            <a:stCxn id="8" idx="2"/>
          </p:cNvCxnSpPr>
          <p:nvPr/>
        </p:nvCxnSpPr>
        <p:spPr>
          <a:xfrm>
            <a:off x="2623185" y="5595620"/>
            <a:ext cx="866140" cy="1168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直接连接符 85"/>
          <p:cNvCxnSpPr>
            <a:endCxn id="77" idx="0"/>
          </p:cNvCxnSpPr>
          <p:nvPr/>
        </p:nvCxnSpPr>
        <p:spPr>
          <a:xfrm flipH="1">
            <a:off x="2084070" y="5598795"/>
            <a:ext cx="279400" cy="12592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直接连接符 86"/>
          <p:cNvCxnSpPr>
            <a:stCxn id="8" idx="3"/>
            <a:endCxn id="79" idx="2"/>
          </p:cNvCxnSpPr>
          <p:nvPr/>
        </p:nvCxnSpPr>
        <p:spPr>
          <a:xfrm flipV="1">
            <a:off x="3224530" y="5044440"/>
            <a:ext cx="1148080" cy="269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连接符 87"/>
          <p:cNvCxnSpPr>
            <a:endCxn id="81" idx="2"/>
          </p:cNvCxnSpPr>
          <p:nvPr/>
        </p:nvCxnSpPr>
        <p:spPr>
          <a:xfrm>
            <a:off x="3201670" y="5494655"/>
            <a:ext cx="1170940" cy="372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直接连接符 88"/>
          <p:cNvCxnSpPr>
            <a:endCxn id="80" idx="1"/>
          </p:cNvCxnSpPr>
          <p:nvPr/>
        </p:nvCxnSpPr>
        <p:spPr>
          <a:xfrm>
            <a:off x="3057525" y="5586095"/>
            <a:ext cx="1181100" cy="707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2730500" y="46431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1" name="文本框 90"/>
          <p:cNvSpPr txBox="1"/>
          <p:nvPr/>
        </p:nvSpPr>
        <p:spPr>
          <a:xfrm>
            <a:off x="2743200" y="32296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</a:t>
            </a:r>
            <a:endParaRPr lang="en-US" altLang="zh-CN"/>
          </a:p>
        </p:txBody>
      </p:sp>
      <p:sp>
        <p:nvSpPr>
          <p:cNvPr id="92" name="文本框 91"/>
          <p:cNvSpPr txBox="1"/>
          <p:nvPr/>
        </p:nvSpPr>
        <p:spPr>
          <a:xfrm>
            <a:off x="7694930" y="21863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3" name="文本框 92"/>
          <p:cNvSpPr txBox="1"/>
          <p:nvPr/>
        </p:nvSpPr>
        <p:spPr>
          <a:xfrm>
            <a:off x="4537075" y="21951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</a:t>
            </a:r>
            <a:endParaRPr lang="en-US" altLang="zh-CN"/>
          </a:p>
        </p:txBody>
      </p:sp>
      <p:sp>
        <p:nvSpPr>
          <p:cNvPr id="95" name="椭圆 94"/>
          <p:cNvSpPr/>
          <p:nvPr/>
        </p:nvSpPr>
        <p:spPr>
          <a:xfrm>
            <a:off x="6906895" y="1157605"/>
            <a:ext cx="1367155" cy="6610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并网点编号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6" name="椭圆 95"/>
          <p:cNvSpPr/>
          <p:nvPr/>
        </p:nvSpPr>
        <p:spPr>
          <a:xfrm>
            <a:off x="10824845" y="764540"/>
            <a:ext cx="1367155" cy="6610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并网时间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7" name="椭圆 96"/>
          <p:cNvSpPr/>
          <p:nvPr/>
        </p:nvSpPr>
        <p:spPr>
          <a:xfrm>
            <a:off x="8945245" y="194945"/>
            <a:ext cx="1367155" cy="6610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电压等级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8" name="椭圆 97"/>
          <p:cNvSpPr/>
          <p:nvPr/>
        </p:nvSpPr>
        <p:spPr>
          <a:xfrm>
            <a:off x="7578090" y="440690"/>
            <a:ext cx="1367155" cy="6610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并网点名称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9" name="椭圆 98"/>
          <p:cNvSpPr/>
          <p:nvPr/>
        </p:nvSpPr>
        <p:spPr>
          <a:xfrm>
            <a:off x="10771505" y="2621915"/>
            <a:ext cx="1367155" cy="6610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地理位置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0" name="椭圆 99"/>
          <p:cNvSpPr/>
          <p:nvPr/>
        </p:nvSpPr>
        <p:spPr>
          <a:xfrm>
            <a:off x="10824845" y="1666875"/>
            <a:ext cx="1367155" cy="6610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所属厂区编号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1" name="椭圆 100"/>
          <p:cNvSpPr/>
          <p:nvPr/>
        </p:nvSpPr>
        <p:spPr>
          <a:xfrm>
            <a:off x="10391775" y="0"/>
            <a:ext cx="1367155" cy="6610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接入容量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102" name="直接连接符 101"/>
          <p:cNvCxnSpPr>
            <a:stCxn id="95" idx="5"/>
          </p:cNvCxnSpPr>
          <p:nvPr/>
        </p:nvCxnSpPr>
        <p:spPr>
          <a:xfrm>
            <a:off x="8074025" y="1722120"/>
            <a:ext cx="1261745" cy="5772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直接连接符 102"/>
          <p:cNvCxnSpPr>
            <a:stCxn id="98" idx="5"/>
          </p:cNvCxnSpPr>
          <p:nvPr/>
        </p:nvCxnSpPr>
        <p:spPr>
          <a:xfrm>
            <a:off x="8745220" y="1005205"/>
            <a:ext cx="813435" cy="12420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直接连接符 103"/>
          <p:cNvCxnSpPr>
            <a:stCxn id="97" idx="4"/>
          </p:cNvCxnSpPr>
          <p:nvPr/>
        </p:nvCxnSpPr>
        <p:spPr>
          <a:xfrm>
            <a:off x="9629140" y="855980"/>
            <a:ext cx="0" cy="14300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5" name="直接连接符 104"/>
          <p:cNvCxnSpPr>
            <a:stCxn id="101" idx="3"/>
          </p:cNvCxnSpPr>
          <p:nvPr/>
        </p:nvCxnSpPr>
        <p:spPr>
          <a:xfrm flipH="1">
            <a:off x="9911715" y="564515"/>
            <a:ext cx="680085" cy="17348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" name="直接连接符 105"/>
          <p:cNvCxnSpPr>
            <a:stCxn id="96" idx="3"/>
          </p:cNvCxnSpPr>
          <p:nvPr/>
        </p:nvCxnSpPr>
        <p:spPr>
          <a:xfrm flipH="1">
            <a:off x="10147300" y="1329055"/>
            <a:ext cx="877570" cy="9766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>
            <a:off x="10409555" y="2593975"/>
            <a:ext cx="431800" cy="2222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直接连接符 107"/>
          <p:cNvCxnSpPr>
            <a:stCxn id="100" idx="3"/>
          </p:cNvCxnSpPr>
          <p:nvPr/>
        </p:nvCxnSpPr>
        <p:spPr>
          <a:xfrm flipH="1">
            <a:off x="10382885" y="2231390"/>
            <a:ext cx="641985" cy="1397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9" name="文本框 108"/>
          <p:cNvSpPr txBox="1"/>
          <p:nvPr/>
        </p:nvSpPr>
        <p:spPr>
          <a:xfrm>
            <a:off x="9790430" y="42202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</a:t>
            </a:r>
            <a:endParaRPr lang="en-US" altLang="zh-CN"/>
          </a:p>
        </p:txBody>
      </p:sp>
      <p:sp>
        <p:nvSpPr>
          <p:cNvPr id="110" name="文本框 109"/>
          <p:cNvSpPr txBox="1"/>
          <p:nvPr/>
        </p:nvSpPr>
        <p:spPr>
          <a:xfrm>
            <a:off x="9859010" y="31089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11" name="文本框 110"/>
          <p:cNvSpPr txBox="1"/>
          <p:nvPr/>
        </p:nvSpPr>
        <p:spPr>
          <a:xfrm>
            <a:off x="2553335" y="330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12" name="文本框 111"/>
          <p:cNvSpPr txBox="1"/>
          <p:nvPr/>
        </p:nvSpPr>
        <p:spPr>
          <a:xfrm>
            <a:off x="2540635" y="-13284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</a:t>
            </a:r>
            <a:endParaRPr lang="en-US" altLang="zh-CN"/>
          </a:p>
        </p:txBody>
      </p:sp>
      <p:sp>
        <p:nvSpPr>
          <p:cNvPr id="113" name="椭圆 112"/>
          <p:cNvSpPr/>
          <p:nvPr/>
        </p:nvSpPr>
        <p:spPr>
          <a:xfrm>
            <a:off x="4856480" y="1157605"/>
            <a:ext cx="1367155" cy="6610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接入并网点</a:t>
            </a:r>
            <a:r>
              <a:rPr lang="zh-CN" altLang="en-US" sz="1400">
                <a:solidFill>
                  <a:schemeClr val="tx1"/>
                </a:solidFill>
              </a:rPr>
              <a:t>编号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114" name="直接连接符 113"/>
          <p:cNvCxnSpPr>
            <a:stCxn id="113" idx="3"/>
          </p:cNvCxnSpPr>
          <p:nvPr/>
        </p:nvCxnSpPr>
        <p:spPr>
          <a:xfrm flipH="1">
            <a:off x="3234055" y="1722120"/>
            <a:ext cx="1822450" cy="650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5" name="椭圆 114"/>
          <p:cNvSpPr/>
          <p:nvPr/>
        </p:nvSpPr>
        <p:spPr>
          <a:xfrm>
            <a:off x="-944880" y="-2142490"/>
            <a:ext cx="1367155" cy="6610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数据</a:t>
            </a:r>
            <a:r>
              <a:rPr lang="zh-CN" altLang="en-US" sz="1400">
                <a:solidFill>
                  <a:schemeClr val="tx1"/>
                </a:solidFill>
              </a:rPr>
              <a:t>质量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116" name="直接连接符 115"/>
          <p:cNvCxnSpPr>
            <a:stCxn id="115" idx="6"/>
          </p:cNvCxnSpPr>
          <p:nvPr/>
        </p:nvCxnSpPr>
        <p:spPr>
          <a:xfrm>
            <a:off x="422275" y="-1811655"/>
            <a:ext cx="13887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7" name="椭圆 116"/>
          <p:cNvSpPr/>
          <p:nvPr/>
        </p:nvSpPr>
        <p:spPr>
          <a:xfrm>
            <a:off x="648335" y="4257675"/>
            <a:ext cx="1367155" cy="6610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设备</a:t>
            </a:r>
            <a:r>
              <a:rPr lang="zh-CN" altLang="en-US" sz="1400">
                <a:solidFill>
                  <a:schemeClr val="tx1"/>
                </a:solidFill>
              </a:rPr>
              <a:t>名称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18" name="椭圆 117"/>
          <p:cNvSpPr/>
          <p:nvPr/>
        </p:nvSpPr>
        <p:spPr>
          <a:xfrm>
            <a:off x="4189095" y="2854325"/>
            <a:ext cx="1367155" cy="6610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生产</a:t>
            </a:r>
            <a:r>
              <a:rPr lang="zh-CN" altLang="en-US" sz="1400">
                <a:solidFill>
                  <a:schemeClr val="tx1"/>
                </a:solidFill>
              </a:rPr>
              <a:t>厂家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19" name="椭圆 118"/>
          <p:cNvSpPr/>
          <p:nvPr/>
        </p:nvSpPr>
        <p:spPr>
          <a:xfrm>
            <a:off x="3489325" y="3589655"/>
            <a:ext cx="1367155" cy="6610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设备</a:t>
            </a:r>
            <a:r>
              <a:rPr lang="zh-CN" altLang="en-US" sz="1400">
                <a:solidFill>
                  <a:schemeClr val="tx1"/>
                </a:solidFill>
              </a:rPr>
              <a:t>型号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120" name="直接连接符 119"/>
          <p:cNvCxnSpPr>
            <a:endCxn id="117" idx="7"/>
          </p:cNvCxnSpPr>
          <p:nvPr/>
        </p:nvCxnSpPr>
        <p:spPr>
          <a:xfrm flipH="1">
            <a:off x="1815465" y="2871470"/>
            <a:ext cx="506730" cy="14827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1" name="直接连接符 120"/>
          <p:cNvCxnSpPr>
            <a:endCxn id="118" idx="1"/>
          </p:cNvCxnSpPr>
          <p:nvPr/>
        </p:nvCxnSpPr>
        <p:spPr>
          <a:xfrm>
            <a:off x="3238500" y="2727325"/>
            <a:ext cx="1150620" cy="2235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2" name="直接连接符 121"/>
          <p:cNvCxnSpPr>
            <a:endCxn id="119" idx="1"/>
          </p:cNvCxnSpPr>
          <p:nvPr/>
        </p:nvCxnSpPr>
        <p:spPr>
          <a:xfrm>
            <a:off x="3028950" y="2845435"/>
            <a:ext cx="660400" cy="8407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</Words>
  <Application>WPS 演示</Application>
  <PresentationFormat>宽屏</PresentationFormat>
  <Paragraphs>124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浮绘梦</cp:lastModifiedBy>
  <cp:revision>167</cp:revision>
  <dcterms:created xsi:type="dcterms:W3CDTF">2025-12-17T06:48:48Z</dcterms:created>
  <dcterms:modified xsi:type="dcterms:W3CDTF">2025-12-17T06:48:48Z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AD1D8D592526F24184BB3F6949776DAC_41</vt:lpwstr>
  </property>
</Properties>
</file>